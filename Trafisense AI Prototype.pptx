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embeddedFontLst>
    <p:embeddedFont>
      <p:font typeface="Abril Fatface" charset="1" panose="02000503000000020003"/>
      <p:regular r:id="rId13"/>
    </p:embeddedFont>
    <p:embeddedFont>
      <p:font typeface="Gagalin" charset="1" panose="00000500000000000000"/>
      <p:regular r:id="rId14"/>
    </p:embeddedFont>
    <p:embeddedFont>
      <p:font typeface="Times New Roman Bold Italics" charset="1" panose="02020703060505090304"/>
      <p:regular r:id="rId15"/>
    </p:embeddedFont>
    <p:embeddedFont>
      <p:font typeface="Times New Roman" charset="1" panose="020206030504050203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Relationship Id="rId8" Target="../media/image22.jpe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jpeg" Type="http://schemas.openxmlformats.org/officeDocument/2006/relationships/image"/><Relationship Id="rId12" Target="../media/image41.jpeg" Type="http://schemas.openxmlformats.org/officeDocument/2006/relationships/image"/><Relationship Id="rId13" Target="../media/image42.jpeg" Type="http://schemas.openxmlformats.org/officeDocument/2006/relationships/image"/><Relationship Id="rId14" Target="../media/image43.jpeg" Type="http://schemas.openxmlformats.org/officeDocument/2006/relationships/image"/><Relationship Id="rId15" Target="../media/image44.jpeg" Type="http://schemas.openxmlformats.org/officeDocument/2006/relationships/image"/><Relationship Id="rId16" Target="../media/image45.jpeg" Type="http://schemas.openxmlformats.org/officeDocument/2006/relationships/image"/><Relationship Id="rId17" Target="../media/image46.png" Type="http://schemas.openxmlformats.org/officeDocument/2006/relationships/image"/><Relationship Id="rId18" Target="../media/image47.svg" Type="http://schemas.openxmlformats.org/officeDocument/2006/relationships/image"/><Relationship Id="rId19" Target="../media/image48.jpeg" Type="http://schemas.openxmlformats.org/officeDocument/2006/relationships/image"/><Relationship Id="rId2" Target="../media/image31.png" Type="http://schemas.openxmlformats.org/officeDocument/2006/relationships/image"/><Relationship Id="rId20" Target="../media/image49.jpeg" Type="http://schemas.openxmlformats.org/officeDocument/2006/relationships/image"/><Relationship Id="rId21" Target="../media/image50.jpeg" Type="http://schemas.openxmlformats.org/officeDocument/2006/relationships/image"/><Relationship Id="rId22" Target="../media/image51.jpeg" Type="http://schemas.openxmlformats.org/officeDocument/2006/relationships/image"/><Relationship Id="rId23" Target="../media/image52.jpe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58382" y="0"/>
            <a:ext cx="1447818" cy="1658221"/>
          </a:xfrm>
          <a:custGeom>
            <a:avLst/>
            <a:gdLst/>
            <a:ahLst/>
            <a:cxnLst/>
            <a:rect r="r" b="b" t="t" l="l"/>
            <a:pathLst>
              <a:path h="1658221" w="1447818">
                <a:moveTo>
                  <a:pt x="0" y="0"/>
                </a:moveTo>
                <a:lnTo>
                  <a:pt x="1447818" y="0"/>
                </a:lnTo>
                <a:lnTo>
                  <a:pt x="1447818" y="1658221"/>
                </a:lnTo>
                <a:lnTo>
                  <a:pt x="0" y="165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96" t="-5447" r="-18613" b="-54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680" y="510565"/>
            <a:ext cx="3266723" cy="637091"/>
          </a:xfrm>
          <a:custGeom>
            <a:avLst/>
            <a:gdLst/>
            <a:ahLst/>
            <a:cxnLst/>
            <a:rect r="r" b="b" t="t" l="l"/>
            <a:pathLst>
              <a:path h="637091" w="3266723">
                <a:moveTo>
                  <a:pt x="0" y="0"/>
                </a:moveTo>
                <a:lnTo>
                  <a:pt x="3266723" y="0"/>
                </a:lnTo>
                <a:lnTo>
                  <a:pt x="3266723" y="637091"/>
                </a:lnTo>
                <a:lnTo>
                  <a:pt x="0" y="637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2722" r="0" b="-2000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680" y="1794661"/>
            <a:ext cx="12082320" cy="2725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sz="3123">
                <a:solidFill>
                  <a:srgbClr val="F5D717"/>
                </a:solidFill>
                <a:latin typeface="Abril Fatface"/>
                <a:ea typeface="Abril Fatface"/>
                <a:cs typeface="Abril Fatface"/>
                <a:sym typeface="Abril Fatface"/>
              </a:rPr>
              <a:t>Pr</a:t>
            </a:r>
            <a:r>
              <a:rPr lang="en-US" sz="3123">
                <a:solidFill>
                  <a:srgbClr val="F5D717"/>
                </a:solidFill>
                <a:latin typeface="Abril Fatface"/>
                <a:ea typeface="Abril Fatface"/>
                <a:cs typeface="Abril Fatface"/>
                <a:sym typeface="Abril Fatface"/>
              </a:rPr>
              <a:t>oblem Statement 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sz="3123">
                <a:solidFill>
                  <a:srgbClr val="DFDFDF"/>
                </a:solidFill>
                <a:latin typeface="Abril Fatface"/>
                <a:ea typeface="Abril Fatface"/>
                <a:cs typeface="Abril Fatface"/>
                <a:sym typeface="Abril Fatface"/>
              </a:rPr>
              <a:t>Automated Photo Identification and Classification for Traffic Violations Using Computer Vision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</a:p>
          <a:p>
            <a:pPr algn="ctr">
              <a:lnSpc>
                <a:spcPts val="437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226369"/>
            <a:ext cx="5166338" cy="101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3505">
                <a:solidFill>
                  <a:srgbClr val="F5D717"/>
                </a:solidFill>
                <a:latin typeface="Abril Fatface"/>
                <a:ea typeface="Abril Fatface"/>
                <a:cs typeface="Abril Fatface"/>
                <a:sym typeface="Abril Fatface"/>
              </a:rPr>
              <a:t>Team Name</a:t>
            </a:r>
            <a:r>
              <a:rPr lang="en-US" sz="3505">
                <a:solidFill>
                  <a:srgbClr val="F5D717"/>
                </a:solidFill>
                <a:latin typeface="Abril Fatface"/>
                <a:ea typeface="Abril Fatface"/>
                <a:cs typeface="Abril Fatface"/>
                <a:sym typeface="Abril Fatface"/>
              </a:rPr>
              <a:t> : </a:t>
            </a:r>
            <a:r>
              <a:rPr lang="en-US" sz="3505">
                <a:solidFill>
                  <a:srgbClr val="FF3131"/>
                </a:solidFill>
                <a:latin typeface="Abril Fatface"/>
                <a:ea typeface="Abril Fatface"/>
                <a:cs typeface="Abril Fatface"/>
                <a:sym typeface="Abril Fatface"/>
              </a:rPr>
              <a:t>BYTEA</a:t>
            </a:r>
          </a:p>
          <a:p>
            <a:pPr algn="ctr">
              <a:lnSpc>
                <a:spcPts val="1032"/>
              </a:lnSpc>
              <a:spcBef>
                <a:spcPct val="0"/>
              </a:spcBef>
            </a:pPr>
          </a:p>
          <a:p>
            <a:pPr algn="ctr">
              <a:lnSpc>
                <a:spcPts val="1032"/>
              </a:lnSpc>
              <a:spcBef>
                <a:spcPct val="0"/>
              </a:spcBef>
            </a:pPr>
          </a:p>
          <a:p>
            <a:pPr algn="ctr">
              <a:lnSpc>
                <a:spcPts val="1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686178" y="391272"/>
            <a:ext cx="5569832" cy="68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  <a:spcBef>
                <a:spcPct val="0"/>
              </a:spcBef>
            </a:pPr>
            <a:r>
              <a:rPr lang="en-US" sz="3961">
                <a:solidFill>
                  <a:srgbClr val="DFDFDF"/>
                </a:solidFill>
                <a:latin typeface="Gagalin"/>
                <a:ea typeface="Gagalin"/>
                <a:cs typeface="Gagalin"/>
                <a:sym typeface="Gagalin"/>
              </a:rPr>
              <a:t>Gridlock Hackathon 2.0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40617" y="4216844"/>
            <a:ext cx="7951383" cy="224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5D717"/>
                </a:solidFill>
                <a:latin typeface="Abril Fatface"/>
                <a:ea typeface="Abril Fatface"/>
                <a:cs typeface="Abril Fatface"/>
                <a:sym typeface="Abril Fatface"/>
              </a:rPr>
              <a:t>Team Membe</a:t>
            </a:r>
            <a:r>
              <a:rPr lang="en-US" sz="3591">
                <a:solidFill>
                  <a:srgbClr val="F5D717"/>
                </a:solidFill>
                <a:latin typeface="Abril Fatface"/>
                <a:ea typeface="Abril Fatface"/>
                <a:cs typeface="Abril Fatface"/>
                <a:sym typeface="Abril Fatface"/>
              </a:rPr>
              <a:t>rs :</a:t>
            </a:r>
            <a:r>
              <a:rPr lang="en-US" sz="359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 </a:t>
            </a:r>
            <a:r>
              <a:rPr lang="en-US" sz="3591">
                <a:solidFill>
                  <a:srgbClr val="FF3131"/>
                </a:solidFill>
                <a:latin typeface="Abril Fatface"/>
                <a:ea typeface="Abril Fatface"/>
                <a:cs typeface="Abril Fatface"/>
                <a:sym typeface="Abril Fatface"/>
              </a:rPr>
              <a:t>Satvik Yadav</a:t>
            </a:r>
          </a:p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FF3131"/>
                </a:solidFill>
                <a:latin typeface="Abril Fatface"/>
                <a:ea typeface="Abril Fatface"/>
                <a:cs typeface="Abril Fatface"/>
                <a:sym typeface="Abril Fatface"/>
              </a:rPr>
              <a:t>                                                     Amit Chaurasiya </a:t>
            </a:r>
          </a:p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6">
                <a:solidFill>
                  <a:srgbClr val="FF3131"/>
                </a:solidFill>
                <a:latin typeface="Abril Fatface"/>
                <a:ea typeface="Abril Fatface"/>
                <a:cs typeface="Abril Fatface"/>
                <a:sym typeface="Abril Fatface"/>
              </a:rPr>
              <a:t>                                                        Pratik Uppadhyay </a:t>
            </a:r>
          </a:p>
          <a:p>
            <a:pPr algn="ctr">
              <a:lnSpc>
                <a:spcPts val="416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1992" y="92964"/>
            <a:ext cx="6702552" cy="655320"/>
          </a:xfrm>
          <a:custGeom>
            <a:avLst/>
            <a:gdLst/>
            <a:ahLst/>
            <a:cxnLst/>
            <a:rect r="r" b="b" t="t" l="l"/>
            <a:pathLst>
              <a:path h="655320" w="6702552">
                <a:moveTo>
                  <a:pt x="0" y="0"/>
                </a:moveTo>
                <a:lnTo>
                  <a:pt x="6702552" y="0"/>
                </a:lnTo>
                <a:lnTo>
                  <a:pt x="6702552" y="655320"/>
                </a:lnTo>
                <a:lnTo>
                  <a:pt x="0" y="655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997" y="965197"/>
            <a:ext cx="4767577" cy="5678929"/>
          </a:xfrm>
          <a:custGeom>
            <a:avLst/>
            <a:gdLst/>
            <a:ahLst/>
            <a:cxnLst/>
            <a:rect r="r" b="b" t="t" l="l"/>
            <a:pathLst>
              <a:path h="5678929" w="4767577">
                <a:moveTo>
                  <a:pt x="0" y="0"/>
                </a:moveTo>
                <a:lnTo>
                  <a:pt x="4767577" y="0"/>
                </a:lnTo>
                <a:lnTo>
                  <a:pt x="4767577" y="5678929"/>
                </a:lnTo>
                <a:lnTo>
                  <a:pt x="0" y="5678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87340" y="1475232"/>
            <a:ext cx="6069587" cy="5244084"/>
            <a:chOff x="0" y="0"/>
            <a:chExt cx="8092783" cy="69921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92821" cy="6992112"/>
            </a:xfrm>
            <a:custGeom>
              <a:avLst/>
              <a:gdLst/>
              <a:ahLst/>
              <a:cxnLst/>
              <a:rect r="r" b="b" t="t" l="l"/>
              <a:pathLst>
                <a:path h="6992112" w="8092821">
                  <a:moveTo>
                    <a:pt x="0" y="0"/>
                  </a:moveTo>
                  <a:lnTo>
                    <a:pt x="8092821" y="0"/>
                  </a:lnTo>
                  <a:lnTo>
                    <a:pt x="8092821" y="6992112"/>
                  </a:lnTo>
                  <a:lnTo>
                    <a:pt x="0" y="6992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341108" y="864108"/>
            <a:ext cx="3165348" cy="524256"/>
          </a:xfrm>
          <a:custGeom>
            <a:avLst/>
            <a:gdLst/>
            <a:ahLst/>
            <a:cxnLst/>
            <a:rect r="r" b="b" t="t" l="l"/>
            <a:pathLst>
              <a:path h="524256" w="3165348">
                <a:moveTo>
                  <a:pt x="0" y="0"/>
                </a:moveTo>
                <a:lnTo>
                  <a:pt x="3165348" y="0"/>
                </a:lnTo>
                <a:lnTo>
                  <a:pt x="3165348" y="524256"/>
                </a:lnTo>
                <a:lnTo>
                  <a:pt x="0" y="5242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29683" y="216484"/>
            <a:ext cx="3782673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5346" y="2606164"/>
            <a:ext cx="4048801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review of traffic camera footage is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0314" y="2880484"/>
            <a:ext cx="3741249" cy="80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and labor-intensive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Thousands of violations occur daily but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4950" y="989333"/>
            <a:ext cx="3995633" cy="105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18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 Challenges in Traffic Enforcement Problems Faced by Authorities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3986" y="3626615"/>
            <a:ext cx="282674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manpower is available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762" y="4134993"/>
            <a:ext cx="420183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High-risk locations remain unidentified until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0250" y="4409313"/>
            <a:ext cx="1467355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accidents occur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6286" y="4942713"/>
            <a:ext cx="4199325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Lack of real-time analytics and enforcement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2170" y="5217033"/>
            <a:ext cx="121832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8167" y="5797372"/>
            <a:ext cx="360366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License plate extraction and evidence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1527" y="6071692"/>
            <a:ext cx="311867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generation require manual effort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32035" y="848287"/>
            <a:ext cx="1004364" cy="49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08" y="2234184"/>
            <a:ext cx="5269992" cy="4468368"/>
          </a:xfrm>
          <a:custGeom>
            <a:avLst/>
            <a:gdLst/>
            <a:ahLst/>
            <a:cxnLst/>
            <a:rect r="r" b="b" t="t" l="l"/>
            <a:pathLst>
              <a:path h="4468368" w="5269992">
                <a:moveTo>
                  <a:pt x="0" y="0"/>
                </a:moveTo>
                <a:lnTo>
                  <a:pt x="5269992" y="0"/>
                </a:lnTo>
                <a:lnTo>
                  <a:pt x="5269992" y="4468368"/>
                </a:lnTo>
                <a:lnTo>
                  <a:pt x="0" y="4468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65" y="30985"/>
            <a:ext cx="12143737" cy="2111245"/>
          </a:xfrm>
          <a:custGeom>
            <a:avLst/>
            <a:gdLst/>
            <a:ahLst/>
            <a:cxnLst/>
            <a:rect r="r" b="b" t="t" l="l"/>
            <a:pathLst>
              <a:path h="2111245" w="12143737">
                <a:moveTo>
                  <a:pt x="0" y="0"/>
                </a:moveTo>
                <a:lnTo>
                  <a:pt x="12143737" y="0"/>
                </a:lnTo>
                <a:lnTo>
                  <a:pt x="12143737" y="2111245"/>
                </a:lnTo>
                <a:lnTo>
                  <a:pt x="0" y="211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75020" y="2234184"/>
            <a:ext cx="5917692" cy="4468368"/>
          </a:xfrm>
          <a:custGeom>
            <a:avLst/>
            <a:gdLst/>
            <a:ahLst/>
            <a:cxnLst/>
            <a:rect r="r" b="b" t="t" l="l"/>
            <a:pathLst>
              <a:path h="4468368" w="5917692">
                <a:moveTo>
                  <a:pt x="0" y="0"/>
                </a:moveTo>
                <a:lnTo>
                  <a:pt x="5917692" y="0"/>
                </a:lnTo>
                <a:lnTo>
                  <a:pt x="5917692" y="4468368"/>
                </a:lnTo>
                <a:lnTo>
                  <a:pt x="0" y="446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26081" y="77714"/>
            <a:ext cx="3632349" cy="63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i="true">
                <a:solidFill>
                  <a:srgbClr val="2E75B6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698" y="1422902"/>
            <a:ext cx="10413625" cy="5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00B05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TraffiSenseAI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 traffic intelligence platform that automatically detects, analyzes, and prioritizes road violations.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000" y="6118022"/>
            <a:ext cx="3291792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analytics and heatmaps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3672" y="2276599"/>
            <a:ext cx="1330242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Core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72" y="2647340"/>
            <a:ext cx="81715" cy="37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8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• • • 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2825620"/>
            <a:ext cx="344791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Traffic image upload and processing.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0184" y="3374260"/>
            <a:ext cx="421318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 violation detection using YOLOv8.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000" y="3922900"/>
            <a:ext cx="330870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License plate extraction using OCR.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184" y="4471797"/>
            <a:ext cx="239210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Severity score calculation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2000" y="5020437"/>
            <a:ext cx="4158158" cy="88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 generation for enforcement teams Smart City Safety Index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86802" y="2339721"/>
            <a:ext cx="796052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Benefits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86802" y="2607202"/>
            <a:ext cx="81610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73314" y="2652141"/>
            <a:ext cx="5188782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Violation Review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Automatically detects violations, reducing review time.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86802" y="3136792"/>
            <a:ext cx="2915898" cy="35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•Reduced Manual Workload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73314" y="3474853"/>
            <a:ext cx="4810496" cy="13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Automates evidence generation and license plate extraction.</a:t>
            </a:r>
          </a:p>
          <a:p>
            <a:pPr algn="l">
              <a:lnSpc>
                <a:spcPts val="2162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Traffic Enforcement</a:t>
            </a:r>
          </a:p>
          <a:p>
            <a:pPr algn="l">
              <a:lnSpc>
                <a:spcPts val="2162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authorities prioritize high-risk violations and hotspots.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86802" y="3979059"/>
            <a:ext cx="81610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86802" y="4630569"/>
            <a:ext cx="81610" cy="159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1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25130" y="4808858"/>
            <a:ext cx="212839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Data-Driven Decisions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73314" y="5082921"/>
            <a:ext cx="4765615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analytics and insights for better planning.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25130" y="5357851"/>
            <a:ext cx="2138191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Enhanced Road Safety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73314" y="5670271"/>
            <a:ext cx="4937884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Identifies risky behavior to help prevent accidents. Smart City Support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intelligent and scalable traffic management.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82668" y="4264152"/>
            <a:ext cx="6891528" cy="2430780"/>
          </a:xfrm>
          <a:custGeom>
            <a:avLst/>
            <a:gdLst/>
            <a:ahLst/>
            <a:cxnLst/>
            <a:rect r="r" b="b" t="t" l="l"/>
            <a:pathLst>
              <a:path h="2430780" w="6891528">
                <a:moveTo>
                  <a:pt x="0" y="0"/>
                </a:moveTo>
                <a:lnTo>
                  <a:pt x="6891528" y="0"/>
                </a:lnTo>
                <a:lnTo>
                  <a:pt x="6891528" y="2430780"/>
                </a:lnTo>
                <a:lnTo>
                  <a:pt x="0" y="243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1357" y="151381"/>
            <a:ext cx="10816333" cy="3880609"/>
          </a:xfrm>
          <a:custGeom>
            <a:avLst/>
            <a:gdLst/>
            <a:ahLst/>
            <a:cxnLst/>
            <a:rect r="r" b="b" t="t" l="l"/>
            <a:pathLst>
              <a:path h="3880609" w="10816333">
                <a:moveTo>
                  <a:pt x="0" y="0"/>
                </a:moveTo>
                <a:lnTo>
                  <a:pt x="10816333" y="0"/>
                </a:lnTo>
                <a:lnTo>
                  <a:pt x="10816333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703564" y="4469892"/>
            <a:ext cx="1828800" cy="807720"/>
            <a:chOff x="0" y="0"/>
            <a:chExt cx="2438400" cy="1076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" cy="1076960"/>
            </a:xfrm>
            <a:custGeom>
              <a:avLst/>
              <a:gdLst/>
              <a:ahLst/>
              <a:cxnLst/>
              <a:rect r="r" b="b" t="t" l="l"/>
              <a:pathLst>
                <a:path h="10769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076960"/>
                  </a:lnTo>
                  <a:lnTo>
                    <a:pt x="0" y="1076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38260" y="5478780"/>
            <a:ext cx="1499616" cy="938784"/>
            <a:chOff x="0" y="0"/>
            <a:chExt cx="1999488" cy="1251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" cy="1251712"/>
            </a:xfrm>
            <a:custGeom>
              <a:avLst/>
              <a:gdLst/>
              <a:ahLst/>
              <a:cxnLst/>
              <a:rect r="r" b="b" t="t" l="l"/>
              <a:pathLst>
                <a:path h="125171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1251712"/>
                  </a:lnTo>
                  <a:lnTo>
                    <a:pt x="0" y="1251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03064" y="5625084"/>
            <a:ext cx="1435608" cy="897636"/>
            <a:chOff x="0" y="0"/>
            <a:chExt cx="1914144" cy="1196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4144" cy="1196848"/>
            </a:xfrm>
            <a:custGeom>
              <a:avLst/>
              <a:gdLst/>
              <a:ahLst/>
              <a:cxnLst/>
              <a:rect r="r" b="b" t="t" l="l"/>
              <a:pathLst>
                <a:path h="1196848" w="1914144">
                  <a:moveTo>
                    <a:pt x="0" y="0"/>
                  </a:moveTo>
                  <a:lnTo>
                    <a:pt x="1914144" y="0"/>
                  </a:lnTo>
                  <a:lnTo>
                    <a:pt x="1914144" y="1196848"/>
                  </a:lnTo>
                  <a:lnTo>
                    <a:pt x="0" y="1196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22876" y="4465320"/>
            <a:ext cx="1190244" cy="978408"/>
            <a:chOff x="0" y="0"/>
            <a:chExt cx="1586992" cy="13045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6992" cy="1304544"/>
            </a:xfrm>
            <a:custGeom>
              <a:avLst/>
              <a:gdLst/>
              <a:ahLst/>
              <a:cxnLst/>
              <a:rect r="r" b="b" t="t" l="l"/>
              <a:pathLst>
                <a:path h="1304544" w="1586992">
                  <a:moveTo>
                    <a:pt x="0" y="0"/>
                  </a:moveTo>
                  <a:lnTo>
                    <a:pt x="1586992" y="0"/>
                  </a:lnTo>
                  <a:lnTo>
                    <a:pt x="1586992" y="1304544"/>
                  </a:lnTo>
                  <a:lnTo>
                    <a:pt x="0" y="1304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641722" y="188652"/>
            <a:ext cx="3475253" cy="49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b="true" sz="2795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AI Processing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9982" y="1344292"/>
            <a:ext cx="2144487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Traffic Image Upload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7182" y="1620002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9324" y="1892646"/>
            <a:ext cx="58369" cy="3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7182" y="2168900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9982" y="2441829"/>
            <a:ext cx="2656532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YOLOv8 Object 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182" y="2717540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982" y="2990469"/>
            <a:ext cx="267075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Violation Detection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7182" y="3266180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9982" y="3538823"/>
            <a:ext cx="1891208" cy="3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License Plate OCR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7182" y="3815201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9982" y="4088130"/>
            <a:ext cx="2184359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Severity Score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182" y="4363841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9982" y="4636770"/>
            <a:ext cx="2093414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Evidence Generation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7182" y="4912481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9982" y="5185658"/>
            <a:ext cx="1741799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Database Storage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7182" y="5461378"/>
            <a:ext cx="116586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↓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9982" y="5734298"/>
            <a:ext cx="2333349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Dashboard &amp; Analytics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9982" y="1892646"/>
            <a:ext cx="3165234" cy="3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Image</a:t>
            </a: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</a:t>
            </a: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Preprocessing</a:t>
            </a: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</a:t>
            </a:r>
            <a:r>
              <a:rPr lang="en-US" b="true" sz="18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(OpenCV)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74365" y="1485586"/>
            <a:ext cx="2141906" cy="35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2006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Violations Detected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74365" y="2141953"/>
            <a:ext cx="90964" cy="152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• •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17265" y="2133952"/>
            <a:ext cx="2722921" cy="217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2"/>
              </a:lnSpc>
            </a:pPr>
            <a:r>
              <a:rPr lang="en-US" sz="2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Helmet Non-Compliance Triple Riding </a:t>
            </a:r>
          </a:p>
          <a:p>
            <a:pPr algn="l">
              <a:lnSpc>
                <a:spcPts val="2402"/>
              </a:lnSpc>
            </a:pPr>
            <a:r>
              <a:rPr lang="en-US" sz="2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Wrong Side Driving Illegal Parking </a:t>
            </a:r>
          </a:p>
          <a:p>
            <a:pPr algn="l">
              <a:lnSpc>
                <a:spcPts val="2402"/>
              </a:lnSpc>
            </a:pPr>
            <a:r>
              <a:rPr lang="en-US" sz="2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License Plate Recognition</a:t>
            </a:r>
          </a:p>
          <a:p>
            <a:pPr algn="l">
              <a:lnSpc>
                <a:spcPts val="2877"/>
              </a:lnSpc>
            </a:pPr>
            <a:r>
              <a:rPr lang="en-US" b="true" sz="24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AI Stack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84364" y="4591707"/>
            <a:ext cx="829389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53610" y="5802859"/>
            <a:ext cx="82006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EasyOCR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30795" y="4773549"/>
            <a:ext cx="772830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OpenCV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571489" y="5895575"/>
            <a:ext cx="731501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YOLOv8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80" y="1175004"/>
            <a:ext cx="4232148" cy="5416296"/>
          </a:xfrm>
          <a:custGeom>
            <a:avLst/>
            <a:gdLst/>
            <a:ahLst/>
            <a:cxnLst/>
            <a:rect r="r" b="b" t="t" l="l"/>
            <a:pathLst>
              <a:path h="5416296" w="4232148">
                <a:moveTo>
                  <a:pt x="0" y="0"/>
                </a:moveTo>
                <a:lnTo>
                  <a:pt x="4232148" y="0"/>
                </a:lnTo>
                <a:lnTo>
                  <a:pt x="4232148" y="5416296"/>
                </a:lnTo>
                <a:lnTo>
                  <a:pt x="0" y="5416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8776" y="292608"/>
            <a:ext cx="7237476" cy="716280"/>
          </a:xfrm>
          <a:custGeom>
            <a:avLst/>
            <a:gdLst/>
            <a:ahLst/>
            <a:cxnLst/>
            <a:rect r="r" b="b" t="t" l="l"/>
            <a:pathLst>
              <a:path h="716280" w="7237476">
                <a:moveTo>
                  <a:pt x="0" y="0"/>
                </a:moveTo>
                <a:lnTo>
                  <a:pt x="7237476" y="0"/>
                </a:lnTo>
                <a:lnTo>
                  <a:pt x="7237476" y="716280"/>
                </a:lnTo>
                <a:lnTo>
                  <a:pt x="0" y="71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70120" y="1175004"/>
            <a:ext cx="7057644" cy="5390388"/>
            <a:chOff x="0" y="0"/>
            <a:chExt cx="9410192" cy="7187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10192" cy="7187184"/>
            </a:xfrm>
            <a:custGeom>
              <a:avLst/>
              <a:gdLst/>
              <a:ahLst/>
              <a:cxnLst/>
              <a:rect r="r" b="b" t="t" l="l"/>
              <a:pathLst>
                <a:path h="7187184" w="9410192">
                  <a:moveTo>
                    <a:pt x="0" y="0"/>
                  </a:moveTo>
                  <a:lnTo>
                    <a:pt x="9410192" y="0"/>
                  </a:lnTo>
                  <a:lnTo>
                    <a:pt x="9410192" y="7187184"/>
                  </a:lnTo>
                  <a:lnTo>
                    <a:pt x="0" y="718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29003" y="1801244"/>
            <a:ext cx="76200" cy="621916"/>
            <a:chOff x="0" y="0"/>
            <a:chExt cx="76200" cy="6219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21919"/>
            </a:xfrm>
            <a:custGeom>
              <a:avLst/>
              <a:gdLst/>
              <a:ahLst/>
              <a:cxnLst/>
              <a:rect r="r" b="b" t="t" l="l"/>
              <a:pathLst>
                <a:path h="621919" w="76200">
                  <a:moveTo>
                    <a:pt x="39751" y="0"/>
                  </a:moveTo>
                  <a:lnTo>
                    <a:pt x="31496" y="558292"/>
                  </a:lnTo>
                  <a:lnTo>
                    <a:pt x="44196" y="558546"/>
                  </a:lnTo>
                  <a:lnTo>
                    <a:pt x="52451" y="254"/>
                  </a:lnTo>
                  <a:close/>
                  <a:moveTo>
                    <a:pt x="0" y="545211"/>
                  </a:moveTo>
                  <a:lnTo>
                    <a:pt x="36957" y="621919"/>
                  </a:lnTo>
                  <a:lnTo>
                    <a:pt x="76200" y="54622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38271" y="2624204"/>
            <a:ext cx="76200" cy="567052"/>
            <a:chOff x="0" y="0"/>
            <a:chExt cx="76200" cy="5670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567055"/>
            </a:xfrm>
            <a:custGeom>
              <a:avLst/>
              <a:gdLst/>
              <a:ahLst/>
              <a:cxnLst/>
              <a:rect r="r" b="b" t="t" l="l"/>
              <a:pathLst>
                <a:path h="567055" w="76200">
                  <a:moveTo>
                    <a:pt x="39624" y="0"/>
                  </a:moveTo>
                  <a:lnTo>
                    <a:pt x="31496" y="503428"/>
                  </a:lnTo>
                  <a:lnTo>
                    <a:pt x="44196" y="503682"/>
                  </a:lnTo>
                  <a:lnTo>
                    <a:pt x="52324" y="254"/>
                  </a:lnTo>
                  <a:close/>
                  <a:moveTo>
                    <a:pt x="0" y="490220"/>
                  </a:moveTo>
                  <a:lnTo>
                    <a:pt x="36830" y="567055"/>
                  </a:lnTo>
                  <a:lnTo>
                    <a:pt x="76200" y="4914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100198" y="338290"/>
            <a:ext cx="3909755" cy="58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2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&amp;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7143" y="5354193"/>
            <a:ext cx="115303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Safety Index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7143" y="3158995"/>
            <a:ext cx="1447533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Violations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8959" y="3536566"/>
            <a:ext cx="1679772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Vehicles Analyzed Critical Alerts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0631" y="2336035"/>
            <a:ext cx="211160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Monitoring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0631" y="1512827"/>
            <a:ext cx="2971781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Enforcement 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0631" y="2886885"/>
            <a:ext cx="208036" cy="269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    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7143" y="4805048"/>
            <a:ext cx="1691116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Peak Traffic Hours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323" y="247393"/>
            <a:ext cx="11937235" cy="6525006"/>
          </a:xfrm>
          <a:custGeom>
            <a:avLst/>
            <a:gdLst/>
            <a:ahLst/>
            <a:cxnLst/>
            <a:rect r="r" b="b" t="t" l="l"/>
            <a:pathLst>
              <a:path h="6525006" w="11937235">
                <a:moveTo>
                  <a:pt x="0" y="0"/>
                </a:moveTo>
                <a:lnTo>
                  <a:pt x="11937235" y="0"/>
                </a:lnTo>
                <a:lnTo>
                  <a:pt x="11937235" y="6525006"/>
                </a:lnTo>
                <a:lnTo>
                  <a:pt x="0" y="6525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7282" y="324050"/>
            <a:ext cx="5073425" cy="35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2006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Smart City Safety Index &amp;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9514" y="1980314"/>
            <a:ext cx="1395765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Violation Type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514" y="2678049"/>
            <a:ext cx="1597000" cy="87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Helmet Violation Triple Riding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5259" y="1980314"/>
            <a:ext cx="529304" cy="87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Score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0692" y="4219699"/>
            <a:ext cx="388301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Install additional cameras in critical areas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94576" y="2302259"/>
            <a:ext cx="4222052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Increase patrol deployment in hotspot zones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7535" y="5145662"/>
            <a:ext cx="458444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Prioritize school zones and accident-prone roads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2864" y="3271523"/>
            <a:ext cx="445451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Focus enforcement during peak violation hours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48326" y="5992749"/>
            <a:ext cx="496213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Launch awareness campaigns for frequent violations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514" y="3907031"/>
            <a:ext cx="1811826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Wrong Side Driving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9514" y="4604766"/>
            <a:ext cx="1307268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Illegal Parking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514" y="5302377"/>
            <a:ext cx="1483233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Night-Time Risk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514" y="6000121"/>
            <a:ext cx="1582312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School Zone 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5259" y="3209420"/>
            <a:ext cx="236515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5259" y="3907031"/>
            <a:ext cx="236515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5259" y="4604766"/>
            <a:ext cx="236515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5259" y="5302377"/>
            <a:ext cx="353025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+10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5259" y="6000121"/>
            <a:ext cx="353025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+15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9848" y="1098928"/>
            <a:ext cx="2723912" cy="5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Intelligent Risk Assessment Severity Scoring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27520" y="1070239"/>
            <a:ext cx="3838766" cy="56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b="true" sz="3204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AI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004" y="3977640"/>
            <a:ext cx="6897624" cy="2650236"/>
          </a:xfrm>
          <a:custGeom>
            <a:avLst/>
            <a:gdLst/>
            <a:ahLst/>
            <a:cxnLst/>
            <a:rect r="r" b="b" t="t" l="l"/>
            <a:pathLst>
              <a:path h="2650236" w="6897624">
                <a:moveTo>
                  <a:pt x="0" y="0"/>
                </a:moveTo>
                <a:lnTo>
                  <a:pt x="6897624" y="0"/>
                </a:lnTo>
                <a:lnTo>
                  <a:pt x="6897624" y="2650236"/>
                </a:lnTo>
                <a:lnTo>
                  <a:pt x="0" y="2650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5540" y="819912"/>
            <a:ext cx="1967484" cy="353568"/>
          </a:xfrm>
          <a:custGeom>
            <a:avLst/>
            <a:gdLst/>
            <a:ahLst/>
            <a:cxnLst/>
            <a:rect r="r" b="b" t="t" l="l"/>
            <a:pathLst>
              <a:path h="353568" w="1967484">
                <a:moveTo>
                  <a:pt x="0" y="0"/>
                </a:moveTo>
                <a:lnTo>
                  <a:pt x="1967484" y="0"/>
                </a:lnTo>
                <a:lnTo>
                  <a:pt x="1967484" y="353568"/>
                </a:lnTo>
                <a:lnTo>
                  <a:pt x="0" y="353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0160" y="121920"/>
            <a:ext cx="8462772" cy="545592"/>
          </a:xfrm>
          <a:custGeom>
            <a:avLst/>
            <a:gdLst/>
            <a:ahLst/>
            <a:cxnLst/>
            <a:rect r="r" b="b" t="t" l="l"/>
            <a:pathLst>
              <a:path h="545592" w="8462772">
                <a:moveTo>
                  <a:pt x="0" y="0"/>
                </a:moveTo>
                <a:lnTo>
                  <a:pt x="8462772" y="0"/>
                </a:lnTo>
                <a:lnTo>
                  <a:pt x="8462772" y="545592"/>
                </a:lnTo>
                <a:lnTo>
                  <a:pt x="0" y="54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84948" y="1207008"/>
            <a:ext cx="4475988" cy="5420868"/>
          </a:xfrm>
          <a:custGeom>
            <a:avLst/>
            <a:gdLst/>
            <a:ahLst/>
            <a:cxnLst/>
            <a:rect r="r" b="b" t="t" l="l"/>
            <a:pathLst>
              <a:path h="5420868" w="4475988">
                <a:moveTo>
                  <a:pt x="0" y="0"/>
                </a:moveTo>
                <a:lnTo>
                  <a:pt x="4475988" y="0"/>
                </a:lnTo>
                <a:lnTo>
                  <a:pt x="4475988" y="5420868"/>
                </a:lnTo>
                <a:lnTo>
                  <a:pt x="0" y="542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87524" y="4364736"/>
            <a:ext cx="1101852" cy="643128"/>
            <a:chOff x="0" y="0"/>
            <a:chExt cx="1469136" cy="857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9136" cy="857504"/>
            </a:xfrm>
            <a:custGeom>
              <a:avLst/>
              <a:gdLst/>
              <a:ahLst/>
              <a:cxnLst/>
              <a:rect r="r" b="b" t="t" l="l"/>
              <a:pathLst>
                <a:path h="857504" w="1469136">
                  <a:moveTo>
                    <a:pt x="0" y="0"/>
                  </a:moveTo>
                  <a:lnTo>
                    <a:pt x="1469136" y="0"/>
                  </a:lnTo>
                  <a:lnTo>
                    <a:pt x="1469136" y="857504"/>
                  </a:lnTo>
                  <a:lnTo>
                    <a:pt x="0" y="85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74008" y="4347972"/>
            <a:ext cx="783336" cy="704088"/>
            <a:chOff x="0" y="0"/>
            <a:chExt cx="1044448" cy="938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448" cy="938784"/>
            </a:xfrm>
            <a:custGeom>
              <a:avLst/>
              <a:gdLst/>
              <a:ahLst/>
              <a:cxnLst/>
              <a:rect r="r" b="b" t="t" l="l"/>
              <a:pathLst>
                <a:path h="938784" w="1044448">
                  <a:moveTo>
                    <a:pt x="0" y="0"/>
                  </a:moveTo>
                  <a:lnTo>
                    <a:pt x="1044448" y="0"/>
                  </a:lnTo>
                  <a:lnTo>
                    <a:pt x="1044448" y="938784"/>
                  </a:lnTo>
                  <a:lnTo>
                    <a:pt x="0" y="938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20268" y="4399788"/>
            <a:ext cx="1459992" cy="729996"/>
            <a:chOff x="0" y="0"/>
            <a:chExt cx="1946656" cy="9733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6656" cy="973328"/>
            </a:xfrm>
            <a:custGeom>
              <a:avLst/>
              <a:gdLst/>
              <a:ahLst/>
              <a:cxnLst/>
              <a:rect r="r" b="b" t="t" l="l"/>
              <a:pathLst>
                <a:path h="973328" w="1946656">
                  <a:moveTo>
                    <a:pt x="0" y="0"/>
                  </a:moveTo>
                  <a:lnTo>
                    <a:pt x="1946656" y="0"/>
                  </a:lnTo>
                  <a:lnTo>
                    <a:pt x="1946656" y="973328"/>
                  </a:lnTo>
                  <a:lnTo>
                    <a:pt x="0" y="97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85188" y="5718048"/>
            <a:ext cx="1357884" cy="822960"/>
            <a:chOff x="0" y="0"/>
            <a:chExt cx="1810512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05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10512">
                  <a:moveTo>
                    <a:pt x="0" y="0"/>
                  </a:moveTo>
                  <a:lnTo>
                    <a:pt x="1810512" y="0"/>
                  </a:lnTo>
                  <a:lnTo>
                    <a:pt x="1810512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8932" y="5814060"/>
            <a:ext cx="1149096" cy="630936"/>
            <a:chOff x="0" y="0"/>
            <a:chExt cx="1532128" cy="841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2128" cy="841248"/>
            </a:xfrm>
            <a:custGeom>
              <a:avLst/>
              <a:gdLst/>
              <a:ahLst/>
              <a:cxnLst/>
              <a:rect r="r" b="b" t="t" l="l"/>
              <a:pathLst>
                <a:path h="841248" w="1532128">
                  <a:moveTo>
                    <a:pt x="0" y="0"/>
                  </a:moveTo>
                  <a:lnTo>
                    <a:pt x="1532128" y="0"/>
                  </a:lnTo>
                  <a:lnTo>
                    <a:pt x="153212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531108" y="5708904"/>
            <a:ext cx="851916" cy="851916"/>
            <a:chOff x="0" y="0"/>
            <a:chExt cx="1135888" cy="11358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5888" cy="1135888"/>
            </a:xfrm>
            <a:custGeom>
              <a:avLst/>
              <a:gdLst/>
              <a:ahLst/>
              <a:cxnLst/>
              <a:rect r="r" b="b" t="t" l="l"/>
              <a:pathLst>
                <a:path h="1135888" w="1135888">
                  <a:moveTo>
                    <a:pt x="0" y="0"/>
                  </a:moveTo>
                  <a:lnTo>
                    <a:pt x="1135888" y="0"/>
                  </a:lnTo>
                  <a:lnTo>
                    <a:pt x="1135888" y="1135888"/>
                  </a:lnTo>
                  <a:lnTo>
                    <a:pt x="0" y="1135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15256" y="5960364"/>
            <a:ext cx="1443228" cy="484632"/>
            <a:chOff x="0" y="0"/>
            <a:chExt cx="1924304" cy="646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4304" cy="646176"/>
            </a:xfrm>
            <a:custGeom>
              <a:avLst/>
              <a:gdLst/>
              <a:ahLst/>
              <a:cxnLst/>
              <a:rect r="r" b="b" t="t" l="l"/>
              <a:pathLst>
                <a:path h="646176" w="1924304">
                  <a:moveTo>
                    <a:pt x="0" y="0"/>
                  </a:moveTo>
                  <a:lnTo>
                    <a:pt x="1924304" y="0"/>
                  </a:lnTo>
                  <a:lnTo>
                    <a:pt x="1924304" y="646176"/>
                  </a:lnTo>
                  <a:lnTo>
                    <a:pt x="0" y="646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2529" y="1143505"/>
            <a:ext cx="7024621" cy="2795521"/>
          </a:xfrm>
          <a:custGeom>
            <a:avLst/>
            <a:gdLst/>
            <a:ahLst/>
            <a:cxnLst/>
            <a:rect r="r" b="b" t="t" l="l"/>
            <a:pathLst>
              <a:path h="2795521" w="7024621">
                <a:moveTo>
                  <a:pt x="0" y="0"/>
                </a:moveTo>
                <a:lnTo>
                  <a:pt x="7024621" y="0"/>
                </a:lnTo>
                <a:lnTo>
                  <a:pt x="7024621" y="2795521"/>
                </a:lnTo>
                <a:lnTo>
                  <a:pt x="0" y="27955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949696" y="1316736"/>
            <a:ext cx="947928" cy="949452"/>
            <a:chOff x="0" y="0"/>
            <a:chExt cx="1263904" cy="12659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3904" cy="1265936"/>
            </a:xfrm>
            <a:custGeom>
              <a:avLst/>
              <a:gdLst/>
              <a:ahLst/>
              <a:cxnLst/>
              <a:rect r="r" b="b" t="t" l="l"/>
              <a:pathLst>
                <a:path h="1265936" w="1263904">
                  <a:moveTo>
                    <a:pt x="0" y="0"/>
                  </a:moveTo>
                  <a:lnTo>
                    <a:pt x="1263904" y="0"/>
                  </a:lnTo>
                  <a:lnTo>
                    <a:pt x="1263904" y="1265936"/>
                  </a:lnTo>
                  <a:lnTo>
                    <a:pt x="0" y="1265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2272" y="1362456"/>
            <a:ext cx="1185672" cy="711708"/>
            <a:chOff x="0" y="0"/>
            <a:chExt cx="1580896" cy="9489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80896" cy="948944"/>
            </a:xfrm>
            <a:custGeom>
              <a:avLst/>
              <a:gdLst/>
              <a:ahLst/>
              <a:cxnLst/>
              <a:rect r="r" b="b" t="t" l="l"/>
              <a:pathLst>
                <a:path h="948944" w="1580896">
                  <a:moveTo>
                    <a:pt x="0" y="0"/>
                  </a:moveTo>
                  <a:lnTo>
                    <a:pt x="1580896" y="0"/>
                  </a:lnTo>
                  <a:lnTo>
                    <a:pt x="1580896" y="948944"/>
                  </a:lnTo>
                  <a:lnTo>
                    <a:pt x="0" y="94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90956" y="2375916"/>
            <a:ext cx="879348" cy="876300"/>
            <a:chOff x="0" y="0"/>
            <a:chExt cx="1172464" cy="1168400"/>
          </a:xfrm>
        </p:grpSpPr>
        <p:sp>
          <p:nvSpPr>
            <p:cNvPr name="Freeform 26" id="26"/>
            <p:cNvSpPr/>
            <p:nvPr/>
          </p:nvSpPr>
          <p:spPr>
            <a:xfrm flipH="true" flipV="false" rot="0">
              <a:off x="0" y="0"/>
              <a:ext cx="1172464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72464">
                  <a:moveTo>
                    <a:pt x="1172464" y="0"/>
                  </a:moveTo>
                  <a:lnTo>
                    <a:pt x="0" y="0"/>
                  </a:lnTo>
                  <a:lnTo>
                    <a:pt x="0" y="1168400"/>
                  </a:lnTo>
                  <a:lnTo>
                    <a:pt x="1172464" y="1168400"/>
                  </a:lnTo>
                  <a:lnTo>
                    <a:pt x="1172464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299204" y="1261872"/>
            <a:ext cx="1050036" cy="1050036"/>
            <a:chOff x="0" y="0"/>
            <a:chExt cx="1400048" cy="14000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00048" cy="1400048"/>
            </a:xfrm>
            <a:custGeom>
              <a:avLst/>
              <a:gdLst/>
              <a:ahLst/>
              <a:cxnLst/>
              <a:rect r="r" b="b" t="t" l="l"/>
              <a:pathLst>
                <a:path h="1400048" w="1400048">
                  <a:moveTo>
                    <a:pt x="0" y="0"/>
                  </a:moveTo>
                  <a:lnTo>
                    <a:pt x="1400048" y="0"/>
                  </a:lnTo>
                  <a:lnTo>
                    <a:pt x="1400048" y="1400048"/>
                  </a:lnTo>
                  <a:lnTo>
                    <a:pt x="0" y="1400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93436" y="2351532"/>
            <a:ext cx="972312" cy="970788"/>
            <a:chOff x="0" y="0"/>
            <a:chExt cx="1296416" cy="12943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96416" cy="1294384"/>
            </a:xfrm>
            <a:custGeom>
              <a:avLst/>
              <a:gdLst/>
              <a:ahLst/>
              <a:cxnLst/>
              <a:rect r="r" b="b" t="t" l="l"/>
              <a:pathLst>
                <a:path h="1294384" w="1296416">
                  <a:moveTo>
                    <a:pt x="0" y="0"/>
                  </a:moveTo>
                  <a:lnTo>
                    <a:pt x="1296416" y="0"/>
                  </a:lnTo>
                  <a:lnTo>
                    <a:pt x="1296416" y="1294384"/>
                  </a:lnTo>
                  <a:lnTo>
                    <a:pt x="0" y="1294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873752" y="4625340"/>
            <a:ext cx="1005840" cy="76200"/>
            <a:chOff x="0" y="0"/>
            <a:chExt cx="1005840" cy="7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76200"/>
            </a:xfrm>
            <a:custGeom>
              <a:avLst/>
              <a:gdLst/>
              <a:ahLst/>
              <a:cxnLst/>
              <a:rect r="r" b="b" t="t" l="l"/>
              <a:pathLst>
                <a:path h="76200" w="1005840">
                  <a:moveTo>
                    <a:pt x="100584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1005840" y="44450"/>
                  </a:lnTo>
                  <a:close/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189983" y="5224148"/>
            <a:ext cx="76076" cy="492776"/>
            <a:chOff x="0" y="0"/>
            <a:chExt cx="76073" cy="4927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073" cy="492760"/>
            </a:xfrm>
            <a:custGeom>
              <a:avLst/>
              <a:gdLst/>
              <a:ahLst/>
              <a:cxnLst/>
              <a:rect r="r" b="b" t="t" l="l"/>
              <a:pathLst>
                <a:path h="492760" w="76073">
                  <a:moveTo>
                    <a:pt x="36830" y="0"/>
                  </a:moveTo>
                  <a:lnTo>
                    <a:pt x="31496" y="429133"/>
                  </a:lnTo>
                  <a:lnTo>
                    <a:pt x="44196" y="429260"/>
                  </a:lnTo>
                  <a:lnTo>
                    <a:pt x="49530" y="254"/>
                  </a:lnTo>
                  <a:close/>
                  <a:moveTo>
                    <a:pt x="0" y="416052"/>
                  </a:moveTo>
                  <a:lnTo>
                    <a:pt x="37084" y="492760"/>
                  </a:lnTo>
                  <a:lnTo>
                    <a:pt x="76073" y="41706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892552" y="795242"/>
            <a:ext cx="1034244" cy="35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2004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Frontend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15983" y="1336900"/>
            <a:ext cx="2452164" cy="35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2004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Future Enhancements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15983" y="1773450"/>
            <a:ext cx="81610" cy="324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1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• • 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302495" y="1946272"/>
            <a:ext cx="2889466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CCTV Stream Processing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02495" y="2323462"/>
            <a:ext cx="2584714" cy="159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Violation Alerts Multi-City Deployment GPU-Based AI Inference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46691" y="3969639"/>
            <a:ext cx="3123343" cy="104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E-Challan Integration Role-Based Government Access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56150" y="117281"/>
            <a:ext cx="4598775" cy="49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b="true" sz="2795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Deployment, &amp; Future Scope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31666" y="3480521"/>
            <a:ext cx="2536269" cy="36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&amp; Deployment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24783" y="1849079"/>
            <a:ext cx="1150791" cy="108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•Vite</a:t>
            </a:r>
          </a:p>
          <a:p>
            <a:pPr algn="l">
              <a:lnSpc>
                <a:spcPts val="1680"/>
              </a:lnSpc>
            </a:pPr>
            <a:r>
              <a:rPr lang="en-US" sz="14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Tailwind CSS •Chart.js •Leaflet Maps •React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47395" y="4062727"/>
            <a:ext cx="117495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SQLAlchemy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11680" y="5324932"/>
            <a:ext cx="71187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363724" y="4062727"/>
            <a:ext cx="692991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829812" y="4008758"/>
            <a:ext cx="107072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68294" y="5538292"/>
            <a:ext cx="53629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Nginx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78706" y="4360288"/>
            <a:ext cx="81819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48830" y="4852159"/>
            <a:ext cx="119173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1825" y="5307930"/>
            <a:ext cx="690391" cy="44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Compose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11553" y="5200107"/>
            <a:ext cx="782603" cy="4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Vercel (Frontend)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DAHNUlbT05g</dc:identifier>
  <dcterms:modified xsi:type="dcterms:W3CDTF">2011-08-01T06:04:30Z</dcterms:modified>
  <cp:revision>1</cp:revision>
  <dc:title>Presentation.ppt</dc:title>
</cp:coreProperties>
</file>